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91440" cy="6858000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196596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1430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GlobalLogic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PDLC_DEMO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A GlobalLogic demo of agentic PDLC workflows in MedTech.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887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7A00DF"/>
                </a:solidFill>
                <a:latin typeface="Calibri"/>
              </a:rPr>
              <a:t>PROJECT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7132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21216"/>
                </a:solidFill>
                <a:latin typeface="Calibri"/>
              </a:rPr>
              <a:t>PainEase PCA Advanced</a:t>
            </a:r>
          </a:p>
          <a:p>
            <a:pPr algn="l"/>
            <a:r>
              <a:rPr sz="4000" b="1" i="0">
                <a:solidFill>
                  <a:srgbClr val="121216"/>
                </a:solidFill>
                <a:latin typeface="Calibri"/>
              </a:rPr>
              <a:t>PP3500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84F6B"/>
                </a:solidFill>
                <a:latin typeface="Calibri"/>
              </a:rPr>
              <a:t>A patient-controlled analgesia infusion pump — with connectivity adapter and Cloud Suite</a:t>
            </a:r>
          </a:p>
          <a:p>
            <a:pPr algn="l"/>
            <a:r>
              <a:rPr sz="1500" b="0" i="0">
                <a:solidFill>
                  <a:srgbClr val="484F6B"/>
                </a:solidFill>
                <a:latin typeface="Calibri"/>
              </a:rPr>
              <a:t>510(k) with Predetermined Change Control Plan (PCCP)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alibri"/>
              </a:rPr>
              <a:t>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PP3500 — PainEase PCA Advanced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6177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alibri"/>
              </a:rPr>
              <a:t>Predicate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PP3000 / K190567  (illustrative)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9377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alibri"/>
              </a:rPr>
              <a:t>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937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SaMD + SiMD firmware + custom medical-electrical 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257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alibri"/>
              </a:rPr>
              <a:t>DHFs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257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10 total — 3 top-level + 7 nested under Cloud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577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alibri"/>
              </a:rPr>
              <a:t>Prepared by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577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Ben Xavier  ·  2026-04-21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5C00A8"/>
                </a:solidFill>
                <a:latin typeface="Calibri"/>
              </a:rPr>
              <a:t>Demonstration only — device identity, predicate, clearance number, and all clinical data are illustrative. Not a real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00  · 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How this deck is organized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Five content sections plus the appendix. ~20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56032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660904"/>
            <a:ext cx="457200" cy="457200"/>
          </a:xfrm>
          <a:prstGeom prst="ellipse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60320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21216"/>
                </a:solidFill>
                <a:latin typeface="Calibri"/>
              </a:rPr>
              <a:t>Project Overview &amp;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60320"/>
            <a:ext cx="6400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Device composition, DHF topology, regulatory approach (510(k) + PCCP).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6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28416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21216"/>
                </a:solidFill>
                <a:latin typeface="Calibri"/>
              </a:rPr>
              <a:t>Agentic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328416"/>
            <a:ext cx="6400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Project shape, structure, skills, and 23 persona agents.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96512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197096"/>
            <a:ext cx="457200" cy="457200"/>
          </a:xfrm>
          <a:prstGeom prst="ellipse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96512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21216"/>
                </a:solidFill>
                <a:latin typeface="Calibri"/>
              </a:rPr>
              <a:t>Quality &amp;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096512"/>
            <a:ext cx="6400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How skills, hooks, and rules turn conventions into automatic guardrails.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64608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965192"/>
            <a:ext cx="457200" cy="457200"/>
          </a:xfrm>
          <a:prstGeom prst="ellipse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864608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21216"/>
                </a:solidFill>
                <a:latin typeface="Calibri"/>
              </a:rPr>
              <a:t>Agents advise. Humans decide.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864608"/>
            <a:ext cx="6400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Cross-functional advisory panel with the human sign-off always required.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32704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5733288"/>
            <a:ext cx="457200" cy="457200"/>
          </a:xfrm>
          <a:prstGeom prst="ellipse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632704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21216"/>
                </a:solidFill>
                <a:latin typeface="Calibri"/>
              </a:rPr>
              <a:t>The Project Console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5632704"/>
            <a:ext cx="6400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Local FastAPI browser app — agents, documents, dashboards, trace matrix.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01  ·  Project Overview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PROJECT OVERVIEW &amp;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What PP3500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Single composite system — SaMD + SiMD firmware + custom medical-electrical hardware.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BFA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3657600" cy="73152"/>
          </a:xfrm>
          <a:prstGeom prst="roundRect">
            <a:avLst>
              <a:gd name="adj" fmla="val 45000"/>
            </a:avLst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216"/>
                </a:solidFill>
                <a:latin typeface="Calibri"/>
              </a:rPr>
              <a:t>PCA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A00DF"/>
                </a:solidFill>
                <a:latin typeface="Calibri"/>
              </a:rPr>
              <a:t>pca-device  ·  Class II medical device  ·  IEC 62304 Class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320040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SiMD pump firmware + SaMD modules + custom hardware. On-pump delivery, dose-limit enforcement, alarms, touchscreen UI, barcode scan, self-test. The 510(k) anchor DHF.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BFA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2468880"/>
            <a:ext cx="3657600" cy="73152"/>
          </a:xfrm>
          <a:prstGeom prst="roundRect">
            <a:avLst>
              <a:gd name="adj" fmla="val 45000"/>
            </a:avLst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6334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216"/>
                </a:solidFill>
                <a:latin typeface="Calibri"/>
              </a:rPr>
              <a:t>Connectivity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693E3"/>
                </a:solidFill>
                <a:latin typeface="Calibri"/>
              </a:rPr>
              <a:t>connectivity-adapter  ·  MDDS (non-device, post-2015 FDA)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291840"/>
            <a:ext cx="320040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On-prem bridge carrying PCA telemetry + drug-library pushes to and from the Cloud Suite. Named as adjacent infrastructure in the PP3500 510(k); only its cybersecurity posture is pulled 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BFA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2468880"/>
            <a:ext cx="3657600" cy="73152"/>
          </a:xfrm>
          <a:prstGeom prst="roundRect">
            <a:avLst>
              <a:gd name="adj" fmla="val 45000"/>
            </a:avLst>
          </a:prstGeom>
          <a:solidFill>
            <a:srgbClr val="5C0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6334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216"/>
                </a:solidFill>
                <a:latin typeface="Calibri"/>
              </a:rPr>
              <a:t>Cloud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9992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C00A8"/>
                </a:solidFill>
                <a:latin typeface="Calibri"/>
              </a:rPr>
              <a:t>cloud-suite  ·  platform DHF  ·  7 child DHFs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291840"/>
            <a:ext cx="320040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Drug Library Manager is Class II SaMD (PCA accessory, mutates the dose-limit table). The other six children (Fleet, Compliance Reports, Analytics, Inventory, Alerts, Clinical Interface) are non-device software.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01  ·  Project Overview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PROJECT OVERVIEW &amp;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Regulatory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One 510(k) for the PCA device, with an integrated PCCP — pre-authorized post-market change.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54864" cy="3749039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1216"/>
                </a:solidFill>
                <a:latin typeface="Calibri"/>
              </a:rPr>
              <a:t>Filing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3200400" cy="2971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PP3500 510(k)</a:t>
            </a:r>
            <a:r>
              <a:rPr sz="1100">
                <a:solidFill>
                  <a:srgbClr val="484F6B"/>
                </a:solidFill>
              </a:rPr>
              <a:t>  covers only the PCA device itself.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Connectivity Adapter</a:t>
            </a:r>
            <a:r>
              <a:rPr sz="1100">
                <a:solidFill>
                  <a:srgbClr val="484F6B"/>
                </a:solidFill>
              </a:rPr>
              <a:t>  MDDS — not separately filed, cybersecurity only.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Drug Library Manager</a:t>
            </a:r>
            <a:r>
              <a:rPr sz="1100">
                <a:solidFill>
                  <a:srgbClr val="484F6B"/>
                </a:solidFill>
              </a:rPr>
              <a:t>  Class II SaMD accessory — bundled vs. standalone TBD.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Other Cloud Suite components</a:t>
            </a:r>
            <a:r>
              <a:rPr sz="1100">
                <a:solidFill>
                  <a:srgbClr val="484F6B"/>
                </a:solidFill>
              </a:rPr>
              <a:t>  non-device — out of filing.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Predicate</a:t>
            </a:r>
            <a:r>
              <a:rPr sz="1100">
                <a:solidFill>
                  <a:srgbClr val="484F6B"/>
                </a:solidFill>
              </a:rPr>
              <a:t>  PP3000 / K190567  (illustrative).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468880"/>
            <a:ext cx="54864" cy="3749039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1216"/>
                </a:solidFill>
                <a:latin typeface="Calibri"/>
              </a:rPr>
              <a:t>Ct* carve-out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08960"/>
            <a:ext cx="3200400" cy="2971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CtS</a:t>
            </a:r>
            <a:r>
              <a:rPr sz="1100">
                <a:solidFill>
                  <a:srgbClr val="484F6B"/>
                </a:solidFill>
              </a:rPr>
              <a:t>  Critical to Safety — failure can cause patient harm.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CtF</a:t>
            </a:r>
            <a:r>
              <a:rPr sz="1100">
                <a:solidFill>
                  <a:srgbClr val="484F6B"/>
                </a:solidFill>
              </a:rPr>
              <a:t>  Critical to Function — failure breaks the therapy.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CtC</a:t>
            </a:r>
            <a:r>
              <a:rPr sz="1100">
                <a:solidFill>
                  <a:srgbClr val="484F6B"/>
                </a:solidFill>
              </a:rPr>
              <a:t>  Critical to Compliance — required by standard.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CtP</a:t>
            </a:r>
            <a:r>
              <a:rPr sz="1100">
                <a:solidFill>
                  <a:srgbClr val="484F6B"/>
                </a:solidFill>
              </a:rPr>
              <a:t>  Critical to Performance — degrades claimed spec.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In scope = any Ct* tag.</a:t>
            </a:r>
            <a:r>
              <a:rPr sz="1100">
                <a:solidFill>
                  <a:srgbClr val="484F6B"/>
                </a:solidFill>
              </a:rPr>
              <a:t>  Commercial-only requirements ship post-clearance.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468880"/>
            <a:ext cx="54864" cy="3749039"/>
          </a:xfrm>
          <a:prstGeom prst="rect">
            <a:avLst/>
          </a:prstGeom>
          <a:solidFill>
            <a:srgbClr val="5C0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1216"/>
                </a:solidFill>
                <a:latin typeface="Calibri"/>
              </a:rPr>
              <a:t>PCCP envelope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08960"/>
            <a:ext cx="3200400" cy="2971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Drug-library updates</a:t>
            </a:r>
            <a:r>
              <a:rPr sz="1100">
                <a:solidFill>
                  <a:srgbClr val="484F6B"/>
                </a:solidFill>
              </a:rPr>
              <a:t>  new drugs, limit changes inside bounds.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Firmware patches</a:t>
            </a:r>
            <a:r>
              <a:rPr sz="1100">
                <a:solidFill>
                  <a:srgbClr val="484F6B"/>
                </a:solidFill>
              </a:rPr>
              <a:t>  against a fixed, frozen risk profile.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Predictive-alarm SaMDs</a:t>
            </a:r>
            <a:r>
              <a:rPr sz="1100">
                <a:solidFill>
                  <a:srgbClr val="484F6B"/>
                </a:solidFill>
              </a:rPr>
              <a:t>  that meet change-protocol acceptance criteria.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Out of envelope</a:t>
            </a:r>
            <a:r>
              <a:rPr sz="1100">
                <a:solidFill>
                  <a:srgbClr val="484F6B"/>
                </a:solidFill>
              </a:rPr>
              <a:t>  anything that changes the risk profile or indications.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01  ·  Project Overview &amp;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PROJECT OVERVIEW &amp;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Key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Four work products, sequenced from FDA dialogue through substantial equivalence.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4864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216"/>
                </a:solidFill>
                <a:latin typeface="Calibri"/>
              </a:rPr>
              <a:t>Q-Sub (Pre-Submission)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4389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Cover letter · device description · proposed indications · predicates · PCCP summary · specific FDA questions. Validates classification and PCCP scope with FDA before the 510(k).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2743200"/>
            <a:ext cx="502920" cy="502920"/>
          </a:xfrm>
          <a:prstGeom prst="ellipse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97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216"/>
                </a:solidFill>
                <a:latin typeface="Calibri"/>
              </a:rPr>
              <a:t>PCCP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08960"/>
            <a:ext cx="4389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Device description · change categories per module · modification protocols · performance criteria · validation methodology · reporting 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54864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17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216"/>
                </a:solidFill>
                <a:latin typeface="Calibri"/>
              </a:rPr>
              <a:t>510(k)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29200"/>
            <a:ext cx="4389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Substantial-equivalence argument · software docs · performance / validation data · risk analysis · labeling. Composition driven by composition-manifest.md.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389120"/>
            <a:ext cx="548640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4663440"/>
            <a:ext cx="502920" cy="502920"/>
          </a:xfrm>
          <a:prstGeom prst="ellipse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6177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216"/>
                </a:solidFill>
                <a:latin typeface="Calibri"/>
              </a:rPr>
              <a:t>Trace matrix per DHF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029200"/>
            <a:ext cx="4389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User Needs ↔ Design Inputs ↔ Architecture ↔ V&amp;V ↔ Risk. Filing Scope column derived from Ct* tags.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02  ·  Agentic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AGENTIC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Project shape — flat multi-DHF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IEC 62304 § 5 software-system / software-item split, expressed in folders.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11064240" cy="3749039"/>
          </a:xfrm>
          <a:prstGeom prst="roundRect">
            <a:avLst>
              <a:gd name="adj" fmla="val 2000"/>
            </a:avLst>
          </a:prstGeom>
          <a:solidFill>
            <a:srgbClr val="FBFA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1060704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PDLC_DEMO/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CLAUDE.md                  · project operating rules (always loaded)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project.yml                · single source of truth — identity, DHFs, team, registries, secops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project-overview.md        · this overview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tasks/&lt;person&gt;/            · per-person task folders; every edit is task-gated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docs/external/             · FDA guidance, ISO/IEC standards, frameworks, literature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docs/internal/             · GlobalLogic QMS — Manual + 25 SOPs + 6 WIs + 14 Templates + 9 Forms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docs/project/strategies/   · 8 shared strategy docs (regulatory, architecture, dev, testing, …)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docs/project/dhfs/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│   ├── pca-device/            · TOP DHF — PP3500 (lead product)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│   ├── connectivity-adapter/  · TOP DHF — MDDS bridge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│   └── cloud-suite/           · PLATFORM DHF — 7 nested children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docs/project/submissions/  · qsub/ · 510k/ · pccp/  (each with composition-manifest.md)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├── tools/project-console/     · local FastAPI console (scaffolded from project-console skill)</a:t>
            </a:r>
          </a:p>
          <a:p>
            <a:pPr algn="l"/>
            <a:r>
              <a:rPr sz="1100" b="0" i="0">
                <a:solidFill>
                  <a:srgbClr val="1F253D"/>
                </a:solidFill>
                <a:latin typeface="Consolas"/>
              </a:rPr>
              <a:t>└── .claude/                   · skills/  agents/  hooks/  settings.json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02  ·  Agentic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AGENTIC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Operating rules baked into the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Hooks and conventions that make Claude work with regulatory-grade discipline.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54864" cy="118872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Task-first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PreToolUse hook denies any Edit/Write/NotebookEdit unless the session has an active task document. Every change is owned.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54864" cy="118872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One task, one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All analysis, drafts, and phase deliverables live in the task's numbered markdown file — never sibling notes.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49039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49039"/>
            <a:ext cx="54864" cy="118872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8619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Strategy / lessons 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51959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UserPromptSubmit + Stop hooks detect strategic-intent signals and block session end if content wasn't captured.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49039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749039"/>
            <a:ext cx="54864" cy="118872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88619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Session-start secops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51959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project-secops agent audits the session against project.yml allowlists. Results cached with a 7-day TTL.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029200"/>
            <a:ext cx="54864" cy="118872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1663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Docflow entry enforcement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Bash hook refuses direct pandoc / soffice / pdftotext calls so all conversions round-trip through /docflow.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029200"/>
            <a:ext cx="54864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5029200"/>
            <a:ext cx="54864" cy="118872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1663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project.yml as single source of truth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53212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Identity, DHF topology, team, registries, secops allowlists, advisor curation — all in one manifest.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02  ·  Agentic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AGENTIC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Skills — reusable, expert-grade playbooks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15 project skills installed + 4 builtin format skills. Highest-leverage shown.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1064240" cy="32004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688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IT AUTOMATES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88920"/>
            <a:ext cx="11064240" cy="26517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788920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Task lifecycle · enforces the task-first gate · manages capture hooks.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54096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/medtech-docs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054096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Scaffolds docs/ tree · manages DHFs · imports FDA guidance and ISO/IEC standards.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19272"/>
            <a:ext cx="11064240" cy="26517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19272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/docflow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319272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Round-trip DOCX / DOC / PDF / XLSX ↔ markdown with image and cross-ref fidelity.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84448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584448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Harvests tagged blocks from tasks into 8 shared strategy docs.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49624"/>
            <a:ext cx="11064240" cy="26517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49624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849624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Builds 510(k) + PCCP submission tracker from strategy + composition manifests.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/trace-matrix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114800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Bidirectional design-controls trace per DHF; emits md + json sidecar.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79976"/>
            <a:ext cx="11064240" cy="26517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79976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/advisors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379976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Installs and curates 23 persona advisors; shared between Claude Code and the console.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45152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/project-console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645152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Scaffolds and maintains the local FastAPI console (agents / docs / dashboards / trace).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10328"/>
            <a:ext cx="11064240" cy="26517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10328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/lessons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910328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Harvests lessons-learned blocks into the team ledger; promotes mature ones.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175504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/best-practices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175504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Audits project setup against registry checks and each skill's best-practices table.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440680"/>
            <a:ext cx="11064240" cy="26517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440680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/secops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5440680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Session-start security posture check, attestations, allowlists.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705856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/change-control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705856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(Scaffold.) Bridge to Confluence / Comala and Windchill for Part 11 review &amp; release.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971032"/>
            <a:ext cx="11064240" cy="265176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971032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/sync-skills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971032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Bidirectional sync with the shared hitachi skill registry.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236208"/>
            <a:ext cx="21945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onsolas"/>
              </a:rPr>
              <a:t>/digest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17520" y="6236208"/>
            <a:ext cx="84124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84F6B"/>
                </a:solidFill>
                <a:latin typeface="Calibri"/>
              </a:rPr>
              <a:t>Morning briefing + on-demand append to the project CHANGELOG.md.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02  ·  Agentic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AGENTIC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Agents — persona advisors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23 total — 11 Core Team Assistants + 8 KOLs + 4 panels. Same definitions feed Claude Code and the console.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4864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54864" cy="3749039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1216"/>
                </a:solidFill>
                <a:latin typeface="Calibri"/>
              </a:rPr>
              <a:t>11 Core Team Assistants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5029200" cy="2971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Regulatory Affairs  ·  Clinical Affairs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Systems Engineering  ·  R&amp;D Lead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V&amp;V Lead  ·  Risk Management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Human Factors  ·  Quality Engineering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Cybersecurity  ·  Post-Market  ·  Program Manager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+ 2 panels:</a:t>
            </a:r>
            <a:r>
              <a:rPr sz="1100">
                <a:solidFill>
                  <a:srgbClr val="484F6B"/>
                </a:solidFill>
              </a:rPr>
              <a:t>  Core Team (PM/RA/Clinical/QE/R&amp;D) and Design Review (Sys/R&amp;D/V&amp;V/HFE/Risk/QE).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468880"/>
            <a:ext cx="54864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468880"/>
            <a:ext cx="54864" cy="3749039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1216"/>
                </a:solidFill>
                <a:latin typeface="Calibri"/>
              </a:rPr>
              <a:t>8 KOLs + 2 panels (project-specific)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029200" cy="2971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James E. Paul</a:t>
            </a:r>
            <a:r>
              <a:rPr sz="1100">
                <a:solidFill>
                  <a:srgbClr val="484F6B"/>
                </a:solidFill>
              </a:rPr>
              <a:t>  PCA pump safety, acute pain — primary PP3500 anchor KOL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Kathleen K. Giuliano</a:t>
            </a:r>
            <a:r>
              <a:rPr sz="1100">
                <a:solidFill>
                  <a:srgbClr val="484F6B"/>
                </a:solidFill>
              </a:rPr>
              <a:t>  IV smart-pump usability, medication safety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Priyadarshini Pennathur</a:t>
            </a:r>
            <a:r>
              <a:rPr sz="1100">
                <a:solidFill>
                  <a:srgbClr val="484F6B"/>
                </a:solidFill>
              </a:rPr>
              <a:t>  Human factors engineering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Lisa Gorski</a:t>
            </a:r>
            <a:r>
              <a:rPr sz="1100">
                <a:solidFill>
                  <a:srgbClr val="484F6B"/>
                </a:solidFill>
              </a:rPr>
              <a:t>  Infusion nursing standards, vascular access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Evan Kirkendall / Parth Shah / Sini Kuitunen / Susan Braithwaite</a:t>
            </a:r>
            <a:r>
              <a:rPr sz="1100">
                <a:solidFill>
                  <a:srgbClr val="484F6B"/>
                </a:solidFill>
              </a:rPr>
              <a:t>  smart-pump safety, alert fatigue, pediatric dosing, insulin protocols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 b="1">
                <a:solidFill>
                  <a:srgbClr val="121216"/>
                </a:solidFill>
              </a:rPr>
              <a:t>+ 2 panels:</a:t>
            </a:r>
            <a:r>
              <a:rPr sz="1100">
                <a:solidFill>
                  <a:srgbClr val="484F6B"/>
                </a:solidFill>
              </a:rPr>
              <a:t>  round-robin and LLM-moderated PP3500 KOL panels.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02  ·  Agentic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AGENTIC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Three-tier grounding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Every advisor has grounding sources layered from most-portable to most-specific.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80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216"/>
                </a:solidFill>
                <a:latin typeface="Calibri"/>
              </a:rPr>
              <a:t>Universal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91840"/>
            <a:ext cx="2560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FDA guidance · ISO/IEC standards · industry frameworks · clinical literature. Identical across every medtech project scaffolded by /medtech-docs.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65176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17720" y="2926080"/>
            <a:ext cx="502920" cy="502920"/>
          </a:xfrm>
          <a:prstGeom prst="ellipse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880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216"/>
                </a:solidFill>
                <a:latin typeface="Calibri"/>
              </a:rPr>
              <a:t>Shape-stable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291840"/>
            <a:ext cx="2560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Paths guaranteed by /medtech-docs — DHF layout, strategies/, submissions/, input-analysis/. The advisor knows where to look, regardless of project.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65176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0" y="2926080"/>
            <a:ext cx="502920" cy="502920"/>
          </a:xfrm>
          <a:prstGeom prst="ellipse">
            <a:avLst/>
          </a:prstGeom>
          <a:solidFill>
            <a:srgbClr val="5C0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880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1216"/>
                </a:solidFill>
                <a:latin typeface="Calibri"/>
              </a:rPr>
              <a:t>Project-specific overlay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291840"/>
            <a:ext cx="2560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project.yml → advisors.overlays.&lt;name&gt;.add / .exclude narrows the file set to what this program actually cares about (e.g. PCA regs, not hip-surgery regs).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03  ·  Quality &amp;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QUALITY &amp;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Guardrails that make quality automatic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Skills, hooks, and rules turn written conventions into executed ones.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BFA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3657600" cy="109728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216"/>
                </a:solidFill>
                <a:latin typeface="Calibri"/>
              </a:rPr>
              <a:t>Skills — reusable playbooks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3200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Named, one-command actions that every team member runs the same way. Remove inconsistency at the source. /task, /medtech-docs, /docflow, /tracker, /trace-matrix, /best-practices.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65176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BFA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651760"/>
            <a:ext cx="3657600" cy="109728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8803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216"/>
                </a:solidFill>
                <a:latin typeface="Calibri"/>
              </a:rPr>
              <a:t>Hooks — automatic tripwires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11880"/>
            <a:ext cx="3200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Small automations fired at a specific moment (session start, before an edit, when work ends) that allow, block, or add context. The system refuses to let you drift.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651760"/>
            <a:ext cx="3657600" cy="3566160"/>
          </a:xfrm>
          <a:prstGeom prst="roundRect">
            <a:avLst>
              <a:gd name="adj" fmla="val 4000"/>
            </a:avLst>
          </a:prstGeom>
          <a:solidFill>
            <a:srgbClr val="FBFA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651760"/>
            <a:ext cx="3657600" cy="109728"/>
          </a:xfrm>
          <a:prstGeom prst="rect">
            <a:avLst/>
          </a:prstGeom>
          <a:solidFill>
            <a:srgbClr val="5C0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88036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216"/>
                </a:solidFill>
                <a:latin typeface="Calibri"/>
              </a:rPr>
              <a:t>Rules — conventions the tool obeys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11880"/>
            <a:ext cx="3200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84F6B"/>
                </a:solidFill>
                <a:latin typeface="Calibri"/>
              </a:rPr>
              <a:t>Short conventions in CLAUDE.md / .claude/rules/ that Claude reads before acting. One task one file · READMEs have Conventions + Changelog · never fabricate standards or clinical content · demo banner everywhere.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03  ·  Quality &amp;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QUALITY &amp;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Concrete automations, in plain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The hooks running today. What each one refuses to let you skip.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54864" cy="1143000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Task-first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718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No file edit without an active, owned task.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468880"/>
            <a:ext cx="54864" cy="1143000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Session security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718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16 automated checks (identity, access, supply chain). High-severity failures block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54864" cy="1143000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404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Session 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Exports CLAUDE_SESSION_ID — the task gate keys its state on this.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0332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703320"/>
            <a:ext cx="54864" cy="1143000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8404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Strategy / lessons 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062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If a prompt shows strategic intent but the task never captured a STRATEGY block, Stop is blocked.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6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937760"/>
            <a:ext cx="54864" cy="1143000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Docflow entry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Raw pandoc / soffice / pdftotext Bash calls refused — must go through /docflow.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937760"/>
            <a:ext cx="5486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937760"/>
            <a:ext cx="54864" cy="1143000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074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Session cleanup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44068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Per-session state files purged on SessionEnd.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04  ·  Humans in 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HUMANS IN CHARGE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Agents advise. Humans decide.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Cross-functional expertise on tap — with the decision-maker of record always a named human.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54864" cy="3749039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1216"/>
                </a:solidFill>
                <a:latin typeface="Calibri"/>
              </a:rPr>
              <a:t>Advisors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3200400" cy="2971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Brief the human with a structured, grounded analysis.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Cite sources for every claim.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Surface counterpoints automatically.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Refuse to fabricate — say "source doesn't support this."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7A00DF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Leave a paper trail of what they read and said.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468880"/>
            <a:ext cx="54864" cy="3749039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1216"/>
                </a:solidFill>
                <a:latin typeface="Calibri"/>
              </a:rPr>
              <a:t>Humans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08960"/>
            <a:ext cx="3200400" cy="2971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Review the analysis · ask follow-ups.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Choose the answer (agent may have given three).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Write the decision into the task document.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Sign off in the QMS of record — Part 11 signature by a named human.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693E3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No AI-generated content enters a controlled artifact without human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468880"/>
            <a:ext cx="36576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3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468880"/>
            <a:ext cx="54864" cy="3749039"/>
          </a:xfrm>
          <a:prstGeom prst="rect">
            <a:avLst/>
          </a:prstGeom>
          <a:solidFill>
            <a:srgbClr val="5C0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1216"/>
                </a:solidFill>
                <a:latin typeface="Calibri"/>
              </a:rPr>
              <a:t>What the regulator sees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08960"/>
            <a:ext cx="3200400" cy="2971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A human-signed decision.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In a task document owned by a named person.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Backed by a trace matrix rebuilt from source.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Supported by structured analysis with cited sources.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Vetted by multiple specialist perspectives.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5C00A8"/>
                </a:solidFill>
              </a:rPr>
              <a:t>•  </a:t>
            </a:r>
            <a:r>
              <a:rPr sz="1100">
                <a:solidFill>
                  <a:srgbClr val="484F6B"/>
                </a:solidFill>
              </a:rPr>
              <a:t>Produced in a toolchain whose compliance properties are enforced by hooks, not hope.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04  ·  Humans in 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HUMANS IN CHARGE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Where the handoff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The AI never occupies step 3 or step 6. That is the design, not a limitation.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1064240" cy="36576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688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468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6888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11064240" cy="512064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34640"/>
            <a:ext cx="548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7A00D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834640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21216"/>
                </a:solidFill>
                <a:latin typeface="Calibri"/>
              </a:rPr>
              <a:t>Draft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834640"/>
            <a:ext cx="21945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834640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Reads grounded sources, drafts structured answer with citations + counterpoints.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346704"/>
            <a:ext cx="548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693E3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346704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21216"/>
                </a:solidFill>
                <a:latin typeface="Calibri"/>
              </a:rPr>
              <a:t>Review &amp; redirect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346704"/>
            <a:ext cx="21945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693E3"/>
                </a:solidFill>
                <a:latin typeface="Calibri"/>
              </a:rPr>
              <a:t>Human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346704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Reviews the analysis, asks follow-ups, rejects or redirects.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58768"/>
            <a:ext cx="11064240" cy="512064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58768"/>
            <a:ext cx="548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693E3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858768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21216"/>
                </a:solidFill>
                <a:latin typeface="Calibri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858768"/>
            <a:ext cx="21945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0693E3"/>
                </a:solidFill>
                <a:latin typeface="Calibri"/>
              </a:rPr>
              <a:t>Human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858768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00A8"/>
                </a:solidFill>
                <a:latin typeface="Calibri"/>
              </a:rPr>
              <a:t>Chooses the path forward and writes it into the task document.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370832"/>
            <a:ext cx="548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7A00D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370832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21216"/>
                </a:solidFill>
                <a:latin typeface="Calibri"/>
              </a:rPr>
              <a:t>Implementation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4370832"/>
            <a:ext cx="21945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Human +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70832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Human directs; agent drafts; task-first gate ensures every edit is owned and traced.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82896"/>
            <a:ext cx="11064240" cy="512064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882896"/>
            <a:ext cx="548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7A00D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882896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21216"/>
                </a:solidFill>
                <a:latin typeface="Calibri"/>
              </a:rPr>
              <a:t>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882896"/>
            <a:ext cx="21945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Human (or panel)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882896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484F6B"/>
                </a:solidFill>
                <a:latin typeface="Calibri"/>
              </a:rPr>
              <a:t>Independent panel agent reviews before the change is finalized.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94960"/>
            <a:ext cx="548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C00A8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394960"/>
            <a:ext cx="2560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21216"/>
                </a:solidFill>
                <a:latin typeface="Calibri"/>
              </a:rPr>
              <a:t>Sign-off in QMS of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5394960"/>
            <a:ext cx="21945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5C00A8"/>
                </a:solidFill>
                <a:latin typeface="Calibri"/>
              </a:rPr>
              <a:t>Human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5394960"/>
            <a:ext cx="56692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5C00A8"/>
                </a:solidFill>
                <a:latin typeface="Calibri"/>
              </a:rPr>
              <a:t>Controlled artifact promoted; signatures applied by named humans in the system of record.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05  ·  The Project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THE PROJECT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21216"/>
                </a:solidFill>
                <a:latin typeface="Calibri"/>
              </a:rPr>
              <a:t>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Top-level tiles for Agents, Documents, Dashboards, and Trace Matrix — branded with the GlobalLogic theme.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693E3"/>
                </a:solidFill>
                <a:latin typeface="Consolas"/>
              </a:rPr>
              <a:t>http://127.0.0.1:8765/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5363" y="2247900"/>
            <a:ext cx="6220968" cy="391668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sole-01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463" y="2286000"/>
            <a:ext cx="6144768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2179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Start / restart:  /project-console start    or    ./tools/project-console/run.sh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05  ·  The Project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THE PROJECT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21216"/>
                </a:solidFill>
                <a:latin typeface="Calibri"/>
              </a:rPr>
              <a:t>Agents — 23 domain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11 Core Team Assistants + 8 KOLs + 4 panels. Curated via project.yml → advisors.enabled.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693E3"/>
                </a:solidFill>
                <a:latin typeface="Consolas"/>
              </a:rPr>
              <a:t>http://127.0.0.1:8765/agents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0752" y="2247900"/>
            <a:ext cx="1830190" cy="419100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sole-02-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852" y="2286000"/>
            <a:ext cx="1753990" cy="4114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05  ·  The Project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THE PROJECT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21216"/>
                </a:solidFill>
                <a:latin typeface="Calibri"/>
              </a:rPr>
              <a:t>A single agent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Threaded, renameable, with a collapsible grounding-sources + system-prompt panel.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693E3"/>
                </a:solidFill>
                <a:latin typeface="Consolas"/>
              </a:rPr>
              <a:t>http://127.0.0.1:8765/agents/regulatory-affairs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5338" y="2247900"/>
            <a:ext cx="6541018" cy="419100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sole-07-agent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438" y="2286000"/>
            <a:ext cx="6464818" cy="4114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05  ·  The Project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THE PROJECT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21216"/>
                </a:solidFill>
                <a:latin typeface="Calibri"/>
              </a:rPr>
              <a:t>Documents explorer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Full project tree · inline markdown rendering · unified Assistant drawer (ben/024) grounded on the open doc.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693E3"/>
                </a:solidFill>
                <a:latin typeface="Consolas"/>
              </a:rPr>
              <a:t>http://127.0.0.1:8765/documents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5907" y="2247900"/>
            <a:ext cx="6659880" cy="419100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sole-03-docu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07" y="2286000"/>
            <a:ext cx="6583680" cy="4114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05  ·  The Project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THE PROJECT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21216"/>
                </a:solidFill>
                <a:latin typeface="Calibri"/>
              </a:rPr>
              <a:t>Dashboards — submission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Glob-discovered HTML dashboards rendered inline. Today: Submission Package Tracker (built by /tracker).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693E3"/>
                </a:solidFill>
                <a:latin typeface="Consolas"/>
              </a:rPr>
              <a:t>http://127.0.0.1:8765/dashboards/submission-tracker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5907" y="2247900"/>
            <a:ext cx="6659880" cy="419100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sole-05-submission-tra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07" y="2286000"/>
            <a:ext cx="6583680" cy="4114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05  ·  The Project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THE PROJECT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21216"/>
                </a:solidFill>
                <a:latin typeface="Calibri"/>
              </a:rPr>
              <a:t>Trace matrix — pca-device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UN 22 · DI 34 · Arch 7 · V&amp;V 3. Ct* filters, orphans-only toggle, SE Assistant drawer.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693E3"/>
                </a:solidFill>
                <a:latin typeface="Consolas"/>
              </a:rPr>
              <a:t>http://127.0.0.1:8765/trace-matrix/pca-device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85363" y="2247900"/>
            <a:ext cx="6220968" cy="391668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sole-08-trace-matrix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463" y="2286000"/>
            <a:ext cx="6144768" cy="3840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217920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Headline gap — 30 Design-Input orphans — surfaced exactly as the trace matrix is designed 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"/>
            <a:ext cx="12191695" cy="9525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21216"/>
                </a:solidFill>
                <a:latin typeface="Calibri"/>
              </a:rPr>
              <a:t>GlobalLogic  ·  PDLC_DEMO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63" y="128016"/>
            <a:ext cx="1261872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"/>
            <a:ext cx="53062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7A00DF"/>
                </a:solidFill>
                <a:latin typeface="Calibri"/>
              </a:rPr>
              <a:t>06  · 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00DF"/>
                </a:solidFill>
                <a:latin typeface="Calibri"/>
              </a:rPr>
              <a:t>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1216"/>
                </a:solidFill>
                <a:latin typeface="Calibri"/>
              </a:rPr>
              <a:t>Quick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Everything referenced in this deck.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731520" cy="381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1064240" cy="36576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11064240" cy="256032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346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Project operating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3464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CLAUDE.md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9067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Project manifest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90672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project.yml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46704"/>
            <a:ext cx="11064240" cy="256032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4670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Companion markdown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346704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project-overview.md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0273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Regulatory 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60273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docs/project/strategies/regulatory-strategy.md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58768"/>
            <a:ext cx="11064240" cy="256032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5876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Architecture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858768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docs/project/strategies/architecture-strategy.md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1148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PCA device DHF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11480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docs/project/dhfs/pca-device/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70832"/>
            <a:ext cx="11064240" cy="256032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708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Cloud Suite DHF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370832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docs/project/dhfs/cloud-suite/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2686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510(k) composition manifest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626864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docs/project/submissions/510k/composition-manifest.md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82896"/>
            <a:ext cx="11064240" cy="256032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88289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Submission tracker (md)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88289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docs/project/submissions/submission-tracker.md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13892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Console landing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138928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http://127.0.0.1:8765/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394960"/>
            <a:ext cx="11064240" cy="256032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3949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Console 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394960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http://127.0.0.1:8765/agents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5099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Console documents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650992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http://127.0.0.1:8765/documents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907024"/>
            <a:ext cx="11064240" cy="256032"/>
          </a:xfrm>
          <a:prstGeom prst="rect">
            <a:avLst/>
          </a:prstGeom>
          <a:solidFill>
            <a:srgbClr val="F7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90702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Console dashboards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5907024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http://127.0.0.1:8765/dashboards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16305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21216"/>
                </a:solidFill>
                <a:latin typeface="Calibri"/>
              </a:rPr>
              <a:t>Console trace matrix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6163056"/>
            <a:ext cx="6949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693E3"/>
                </a:solidFill>
                <a:latin typeface="Consolas"/>
              </a:rPr>
              <a:t>http://127.0.0.1:8765/trace-matrix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92240"/>
            <a:ext cx="12191695" cy="6350"/>
          </a:xfrm>
          <a:prstGeom prst="rect">
            <a:avLst/>
          </a:prstGeom>
          <a:solidFill>
            <a:srgbClr val="E3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Calibri"/>
              </a:rPr>
              <a:t>A GlobalLogic demo of agentic PDLC workflows in MedTech.  ·  Demo sample — not for clinical use.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658368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73152"/>
          </a:xfrm>
          <a:prstGeom prst="rect">
            <a:avLst/>
          </a:prstGeom>
          <a:solidFill>
            <a:srgbClr val="069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196596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2860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ben.xavier@globallogic.com  ·  PDLC_DEMO  ·  PainEase PCA Advanced (PP3500)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3E8FF"/>
                </a:solidFill>
                <a:latin typeface="Calibri"/>
              </a:rPr>
              <a:t>A GlobalLogic demo of agentic PDLC workflows in MedTech.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